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1AE383-955A-4E7D-B19F-BB6ED8A2D25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007071-22C9-44B7-8210-E03D625D911D}">
      <dgm:prSet/>
      <dgm:spPr/>
      <dgm:t>
        <a:bodyPr/>
        <a:lstStyle/>
        <a:p>
          <a:r>
            <a:rPr lang="en-IN" b="0" i="0"/>
            <a:t>Details of technology/prototype with Video</a:t>
          </a:r>
          <a:endParaRPr lang="en-US"/>
        </a:p>
      </dgm:t>
    </dgm:pt>
    <dgm:pt modelId="{4418859D-EE6E-42C5-BA27-1CBF92E796D6}" type="parTrans" cxnId="{B6FA2161-276C-4896-976A-51F68CF27710}">
      <dgm:prSet/>
      <dgm:spPr/>
      <dgm:t>
        <a:bodyPr/>
        <a:lstStyle/>
        <a:p>
          <a:endParaRPr lang="en-US"/>
        </a:p>
      </dgm:t>
    </dgm:pt>
    <dgm:pt modelId="{221F1121-06C4-4C30-897F-ED7E8B660464}" type="sibTrans" cxnId="{B6FA2161-276C-4896-976A-51F68CF27710}">
      <dgm:prSet/>
      <dgm:spPr/>
      <dgm:t>
        <a:bodyPr/>
        <a:lstStyle/>
        <a:p>
          <a:endParaRPr lang="en-US"/>
        </a:p>
      </dgm:t>
    </dgm:pt>
    <dgm:pt modelId="{6CF04B8B-A0A2-4116-ADEF-1C55803A5CC9}">
      <dgm:prSet/>
      <dgm:spPr/>
      <dgm:t>
        <a:bodyPr/>
        <a:lstStyle/>
        <a:p>
          <a:r>
            <a:rPr lang="en-IN" b="0" i="0"/>
            <a:t>Comparison with existing such technologies/patents/prototypes</a:t>
          </a:r>
          <a:endParaRPr lang="en-US"/>
        </a:p>
      </dgm:t>
    </dgm:pt>
    <dgm:pt modelId="{FAD32E15-C316-4B74-BB2C-4102460D9D4B}" type="parTrans" cxnId="{BF4F3E85-6A7B-4729-AC4E-BEC848359F7B}">
      <dgm:prSet/>
      <dgm:spPr/>
      <dgm:t>
        <a:bodyPr/>
        <a:lstStyle/>
        <a:p>
          <a:endParaRPr lang="en-US"/>
        </a:p>
      </dgm:t>
    </dgm:pt>
    <dgm:pt modelId="{8BF018AE-A18E-4417-8769-EAF20CBF7037}" type="sibTrans" cxnId="{BF4F3E85-6A7B-4729-AC4E-BEC848359F7B}">
      <dgm:prSet/>
      <dgm:spPr/>
      <dgm:t>
        <a:bodyPr/>
        <a:lstStyle/>
        <a:p>
          <a:endParaRPr lang="en-US"/>
        </a:p>
      </dgm:t>
    </dgm:pt>
    <dgm:pt modelId="{4CEDBFBE-66CF-4BE7-BFC9-1C985FA9DDB1}">
      <dgm:prSet/>
      <dgm:spPr/>
      <dgm:t>
        <a:bodyPr/>
        <a:lstStyle/>
        <a:p>
          <a:r>
            <a:rPr lang="en-IN" b="0" i="0"/>
            <a:t>Environmental impact/Sustainability of the technology</a:t>
          </a:r>
          <a:endParaRPr lang="en-US"/>
        </a:p>
      </dgm:t>
    </dgm:pt>
    <dgm:pt modelId="{A21B5119-8CD9-4C80-B36B-46F453BF677E}" type="parTrans" cxnId="{9EFE7E7D-54E3-4F5F-96BD-1E746D5B45A2}">
      <dgm:prSet/>
      <dgm:spPr/>
      <dgm:t>
        <a:bodyPr/>
        <a:lstStyle/>
        <a:p>
          <a:endParaRPr lang="en-US"/>
        </a:p>
      </dgm:t>
    </dgm:pt>
    <dgm:pt modelId="{B8FEC836-5B13-4C8F-BEBD-F40988BCB4FE}" type="sibTrans" cxnId="{9EFE7E7D-54E3-4F5F-96BD-1E746D5B45A2}">
      <dgm:prSet/>
      <dgm:spPr/>
      <dgm:t>
        <a:bodyPr/>
        <a:lstStyle/>
        <a:p>
          <a:endParaRPr lang="en-US"/>
        </a:p>
      </dgm:t>
    </dgm:pt>
    <dgm:pt modelId="{1C478759-9060-42C8-81C4-AD7EAA0EF223}" type="pres">
      <dgm:prSet presAssocID="{F71AE383-955A-4E7D-B19F-BB6ED8A2D251}" presName="linear" presStyleCnt="0">
        <dgm:presLayoutVars>
          <dgm:animLvl val="lvl"/>
          <dgm:resizeHandles val="exact"/>
        </dgm:presLayoutVars>
      </dgm:prSet>
      <dgm:spPr/>
    </dgm:pt>
    <dgm:pt modelId="{BEF2BD36-539B-4481-92B6-DDA3C555CF33}" type="pres">
      <dgm:prSet presAssocID="{22007071-22C9-44B7-8210-E03D625D911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C03371-C6AA-4299-8CA3-697FDF2B52BB}" type="pres">
      <dgm:prSet presAssocID="{221F1121-06C4-4C30-897F-ED7E8B660464}" presName="spacer" presStyleCnt="0"/>
      <dgm:spPr/>
    </dgm:pt>
    <dgm:pt modelId="{155EBB7D-8180-4039-BEBF-3840B20969ED}" type="pres">
      <dgm:prSet presAssocID="{6CF04B8B-A0A2-4116-ADEF-1C55803A5C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1839B0-FB22-4488-8164-AFDF25BA9C41}" type="pres">
      <dgm:prSet presAssocID="{8BF018AE-A18E-4417-8769-EAF20CBF7037}" presName="spacer" presStyleCnt="0"/>
      <dgm:spPr/>
    </dgm:pt>
    <dgm:pt modelId="{A945BD8B-7D16-43F1-B6CB-6BC080C313EE}" type="pres">
      <dgm:prSet presAssocID="{4CEDBFBE-66CF-4BE7-BFC9-1C985FA9DDB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82D510-B6C1-4F6E-AF98-A92CC04F16B0}" type="presOf" srcId="{22007071-22C9-44B7-8210-E03D625D911D}" destId="{BEF2BD36-539B-4481-92B6-DDA3C555CF33}" srcOrd="0" destOrd="0" presId="urn:microsoft.com/office/officeart/2005/8/layout/vList2"/>
    <dgm:cxn modelId="{9CA5CE2A-36FE-4B76-A561-8045736234D4}" type="presOf" srcId="{F71AE383-955A-4E7D-B19F-BB6ED8A2D251}" destId="{1C478759-9060-42C8-81C4-AD7EAA0EF223}" srcOrd="0" destOrd="0" presId="urn:microsoft.com/office/officeart/2005/8/layout/vList2"/>
    <dgm:cxn modelId="{B6FA2161-276C-4896-976A-51F68CF27710}" srcId="{F71AE383-955A-4E7D-B19F-BB6ED8A2D251}" destId="{22007071-22C9-44B7-8210-E03D625D911D}" srcOrd="0" destOrd="0" parTransId="{4418859D-EE6E-42C5-BA27-1CBF92E796D6}" sibTransId="{221F1121-06C4-4C30-897F-ED7E8B660464}"/>
    <dgm:cxn modelId="{9EFE7E7D-54E3-4F5F-96BD-1E746D5B45A2}" srcId="{F71AE383-955A-4E7D-B19F-BB6ED8A2D251}" destId="{4CEDBFBE-66CF-4BE7-BFC9-1C985FA9DDB1}" srcOrd="2" destOrd="0" parTransId="{A21B5119-8CD9-4C80-B36B-46F453BF677E}" sibTransId="{B8FEC836-5B13-4C8F-BEBD-F40988BCB4FE}"/>
    <dgm:cxn modelId="{BF4F3E85-6A7B-4729-AC4E-BEC848359F7B}" srcId="{F71AE383-955A-4E7D-B19F-BB6ED8A2D251}" destId="{6CF04B8B-A0A2-4116-ADEF-1C55803A5CC9}" srcOrd="1" destOrd="0" parTransId="{FAD32E15-C316-4B74-BB2C-4102460D9D4B}" sibTransId="{8BF018AE-A18E-4417-8769-EAF20CBF7037}"/>
    <dgm:cxn modelId="{E30E91D2-313F-4FA0-A396-4B7306B19FBB}" type="presOf" srcId="{4CEDBFBE-66CF-4BE7-BFC9-1C985FA9DDB1}" destId="{A945BD8B-7D16-43F1-B6CB-6BC080C313EE}" srcOrd="0" destOrd="0" presId="urn:microsoft.com/office/officeart/2005/8/layout/vList2"/>
    <dgm:cxn modelId="{FE32B7FC-8F7A-4166-987C-DF96C74E92B3}" type="presOf" srcId="{6CF04B8B-A0A2-4116-ADEF-1C55803A5CC9}" destId="{155EBB7D-8180-4039-BEBF-3840B20969ED}" srcOrd="0" destOrd="0" presId="urn:microsoft.com/office/officeart/2005/8/layout/vList2"/>
    <dgm:cxn modelId="{B95D3CFE-2142-4724-8D2E-9D5BCD1AC937}" type="presParOf" srcId="{1C478759-9060-42C8-81C4-AD7EAA0EF223}" destId="{BEF2BD36-539B-4481-92B6-DDA3C555CF33}" srcOrd="0" destOrd="0" presId="urn:microsoft.com/office/officeart/2005/8/layout/vList2"/>
    <dgm:cxn modelId="{BB607013-8B55-4FF6-99C8-D4704B5DF346}" type="presParOf" srcId="{1C478759-9060-42C8-81C4-AD7EAA0EF223}" destId="{98C03371-C6AA-4299-8CA3-697FDF2B52BB}" srcOrd="1" destOrd="0" presId="urn:microsoft.com/office/officeart/2005/8/layout/vList2"/>
    <dgm:cxn modelId="{CB60E1CC-E792-44BA-B1BC-4BF62D379AC3}" type="presParOf" srcId="{1C478759-9060-42C8-81C4-AD7EAA0EF223}" destId="{155EBB7D-8180-4039-BEBF-3840B20969ED}" srcOrd="2" destOrd="0" presId="urn:microsoft.com/office/officeart/2005/8/layout/vList2"/>
    <dgm:cxn modelId="{603F630D-2210-438C-A34D-902E0E09D7BE}" type="presParOf" srcId="{1C478759-9060-42C8-81C4-AD7EAA0EF223}" destId="{751839B0-FB22-4488-8164-AFDF25BA9C41}" srcOrd="3" destOrd="0" presId="urn:microsoft.com/office/officeart/2005/8/layout/vList2"/>
    <dgm:cxn modelId="{13B3402E-9905-4378-A5C0-AC8754CE303A}" type="presParOf" srcId="{1C478759-9060-42C8-81C4-AD7EAA0EF223}" destId="{A945BD8B-7D16-43F1-B6CB-6BC080C313E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2BD36-539B-4481-92B6-DDA3C555CF33}">
      <dsp:nvSpPr>
        <dsp:cNvPr id="0" name=""/>
        <dsp:cNvSpPr/>
      </dsp:nvSpPr>
      <dsp:spPr>
        <a:xfrm>
          <a:off x="0" y="4026"/>
          <a:ext cx="6666833" cy="17519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0" i="0" kern="1200"/>
            <a:t>Details of technology/prototype with Video</a:t>
          </a:r>
          <a:endParaRPr lang="en-US" sz="3300" kern="1200"/>
        </a:p>
      </dsp:txBody>
      <dsp:txXfrm>
        <a:off x="85522" y="89548"/>
        <a:ext cx="6495789" cy="1580884"/>
      </dsp:txXfrm>
    </dsp:sp>
    <dsp:sp modelId="{155EBB7D-8180-4039-BEBF-3840B20969ED}">
      <dsp:nvSpPr>
        <dsp:cNvPr id="0" name=""/>
        <dsp:cNvSpPr/>
      </dsp:nvSpPr>
      <dsp:spPr>
        <a:xfrm>
          <a:off x="0" y="1850995"/>
          <a:ext cx="6666833" cy="1751928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0" i="0" kern="1200"/>
            <a:t>Comparison with existing such technologies/patents/prototypes</a:t>
          </a:r>
          <a:endParaRPr lang="en-US" sz="3300" kern="1200"/>
        </a:p>
      </dsp:txBody>
      <dsp:txXfrm>
        <a:off x="85522" y="1936517"/>
        <a:ext cx="6495789" cy="1580884"/>
      </dsp:txXfrm>
    </dsp:sp>
    <dsp:sp modelId="{A945BD8B-7D16-43F1-B6CB-6BC080C313EE}">
      <dsp:nvSpPr>
        <dsp:cNvPr id="0" name=""/>
        <dsp:cNvSpPr/>
      </dsp:nvSpPr>
      <dsp:spPr>
        <a:xfrm>
          <a:off x="0" y="3697964"/>
          <a:ext cx="6666833" cy="1751928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0" i="0" kern="1200"/>
            <a:t>Environmental impact/Sustainability of the technology</a:t>
          </a:r>
          <a:endParaRPr lang="en-US" sz="3300" kern="1200"/>
        </a:p>
      </dsp:txBody>
      <dsp:txXfrm>
        <a:off x="85522" y="3783486"/>
        <a:ext cx="6495789" cy="1580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97BEA0-7D08-4745-8ECA-32859F5691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EA7212-6130-4020-B51D-6C803C3155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B202DE6-25E2-40AA-AF10-14BA2F121F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DFC4399-19D8-492D-B0AF-0FCB93FCB8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ABF2C99-4BF1-4D6A-9589-AF10CE686F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C014EBD-0C43-49E8-9265-E1AD4ABFA4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180DB08-65BF-4E00-A8D3-4B23BDB328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40B949-6BB6-4D17-8E52-54E5D5B4D2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5289A3A-6D0E-47E4-BD2C-61BBE03A62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AD33511-2C4C-4EBF-A461-F429871FA8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86920E1-0889-4B58-8000-63E308F538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F6F97B9-DAFF-437E-881D-39146D6B04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94665D0-4AC4-4A7E-B17E-94E84CF8F9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6D6B8FC-80DE-4328-B68A-BE1F7AD5BD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731AAD-AA9A-4B14-84C3-5BCA4C057619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913584-6459-4DAB-84E3-11B2ACC92418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167849-B835-4607-9D95-426338EB32A3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AE6F31-FF92-4644-8376-C5E3315E4733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1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3"/>
    <p:sldLayoutId id="2147483656" r:id="rId4"/>
    <p:sldLayoutId id="2147483657" r:id="rId5"/>
    <p:sldLayoutId id="2147483658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6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FC9893-D595-4B45-A866-3D643F14248B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6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4CD2A5-1569-4C5B-8DDB-54475423B163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D20573-1B3E-4E17-8ADD-2C6CFE84F954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A68BFE-E552-49BD-83E0-AE4AA3BDA6FA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007E6F-1672-465F-A555-41340877D24A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627857-2697-4E5F-A8B2-2FDD4E290532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5;p12" descr=""/>
          <p:cNvPicPr/>
          <p:nvPr/>
        </p:nvPicPr>
        <p:blipFill>
          <a:blip r:embed="rId2"/>
          <a:stretch/>
        </p:blipFill>
        <p:spPr>
          <a:xfrm>
            <a:off x="36000" y="75960"/>
            <a:ext cx="820440" cy="939240"/>
          </a:xfrm>
          <a:prstGeom prst="rect">
            <a:avLst/>
          </a:prstGeom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10A9FC-B9ED-4166-85F9-7CC78BA938CD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287720" y="467280"/>
            <a:ext cx="9615960" cy="4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Presentation on IHFC Call for Patent/Technology/Prototype Commercialization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2509560"/>
            <a:ext cx="10515240" cy="366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Amal Panwar | Founder, KisaanAI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Google Shape;91;p1"/>
          <p:cNvSpPr/>
          <p:nvPr/>
        </p:nvSpPr>
        <p:spPr>
          <a:xfrm>
            <a:off x="1166040" y="1542600"/>
            <a:ext cx="96159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KisaanAI: A Source-Grounded SLM Agriculture Intelligence Assistant for Farmers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Google Shape;92;p1"/>
          <p:cNvSpPr/>
          <p:nvPr/>
        </p:nvSpPr>
        <p:spPr>
          <a:xfrm>
            <a:off x="151560" y="6390720"/>
            <a:ext cx="961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*Separate proposal for each individual patent is requested.</a:t>
            </a: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4" name="Google Shape;93;p1" descr=""/>
          <p:cNvPicPr/>
          <p:nvPr/>
        </p:nvPicPr>
        <p:blipFill>
          <a:blip r:embed="rId1"/>
          <a:stretch/>
        </p:blipFill>
        <p:spPr>
          <a:xfrm>
            <a:off x="11056680" y="152280"/>
            <a:ext cx="982800" cy="98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Problem to be addressed</a:t>
            </a:r>
            <a:endParaRPr b="0" lang="en-IN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Farmers still make critical decisions using fragmented, delayed, or generic information.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Weather, mandi prices, crop practices, pest advice, and cost data sit in separate systems and are rarely combined into one usable recommendation.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Most AI solutions are LLM-heavy, expensive to scale, and less suitable for low-connectivity rural use.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Generic chatbots may hallucinate, ignore location and crop context, and provide advice without validated source grounding.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There is also no structured loop to learn safely from farmer corrections and convert field feedback into better future recommendations or product insights.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151920"/>
            <a:ext cx="10515240" cy="96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Details of Technology/Product/Prototype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82760" y="1398240"/>
            <a:ext cx="10515240" cy="509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</a:pP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TRL: 4-5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Working beta prototype deployed with live weather, mandi prices, crop guidance, CACP cost data, pesticide guidance, and multilingual query handling.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Current stage is field-facing validation with real user flows, follow-up memory, source-grounded responses, and feedback capture.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Status of Patent: Prototype stage; patent filing under evaluation after beta validation.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Patent No.: Not filed yet.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Application Domain: Agriculture advisory, market intelligence, weather risk support, agri-input analytics.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Previous funding: Bootstrapped / internal development support only.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Amount: Nil institutional commercialization funding so far.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Agency/Entity: NA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7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Funding Objective: Product hardening, farmer pilots, source validation pipeline, mobile/offline-ready SLM deployment, and B2B analytics module.</a:t>
            </a:r>
            <a:endParaRPr b="0" lang="en-IN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9" name="Google Shape;100;p2" descr=""/>
          <p:cNvPicPr/>
          <p:nvPr/>
        </p:nvPicPr>
        <p:blipFill>
          <a:blip r:embed="rId1"/>
          <a:stretch/>
        </p:blipFill>
        <p:spPr>
          <a:xfrm>
            <a:off x="11202840" y="75600"/>
            <a:ext cx="888480" cy="88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1" name="Rectangle 1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-1410840" y="1410480"/>
            <a:ext cx="6857640" cy="403740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2" name="Rectangle 1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-1410840" y="1420560"/>
            <a:ext cx="6857640" cy="403740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600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3" name="Rectangle 1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766800" y="3588480"/>
            <a:ext cx="2501640" cy="4037400"/>
          </a:xfrm>
          <a:prstGeom prst="rect">
            <a:avLst/>
          </a:prstGeom>
          <a:gradFill rotWithShape="0">
            <a:gsLst>
              <a:gs pos="2000">
                <a:srgbClr val="4472c4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4" name="Freeform: Shape 1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635800">
            <a:off x="-501480" y="969480"/>
            <a:ext cx="3899880" cy="4178520"/>
          </a:xfrm>
          <a:custGeom>
            <a:avLst/>
            <a:gdLst>
              <a:gd name="textAreaLeft" fmla="*/ 0 w 3899880"/>
              <a:gd name="textAreaRight" fmla="*/ 3900240 w 3899880"/>
              <a:gd name="textAreaTop" fmla="*/ 0 h 4178520"/>
              <a:gd name="textAreaBottom" fmla="*/ 4178880 h 4178520"/>
            </a:gdLst>
            <a:ahLst/>
            <a:rect l="textAreaLeft" t="textAreaTop" r="textAreaRight" b="textAreaBottom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000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5" name="Rectangle 1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-1410840" y="1410480"/>
            <a:ext cx="6857640" cy="403740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8faadc">
                  <a:alpha val="1100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86440" y="1683720"/>
            <a:ext cx="3115080" cy="239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>
              <a:lnSpc>
                <a:spcPct val="90000"/>
              </a:lnSpc>
              <a:buNone/>
            </a:pPr>
            <a:r>
              <a:rPr b="1" lang="en-IN" sz="3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Novelty of this technology over other available options in the market</a:t>
            </a:r>
            <a:endParaRPr b="0" lang="en-IN" sz="3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7" name="Google Shape;121;p3" descr=""/>
          <p:cNvPicPr/>
          <p:nvPr/>
        </p:nvPicPr>
        <p:blipFill>
          <a:blip r:embed="rId1"/>
          <a:stretch/>
        </p:blipFill>
        <p:spPr>
          <a:xfrm>
            <a:off x="11087280" y="33120"/>
            <a:ext cx="1104480" cy="1104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448799301"/>
              </p:ext>
            </p:extLst>
          </p:nvPr>
        </p:nvGraphicFramePr>
        <p:xfrm>
          <a:off x="4905000" y="750600"/>
          <a:ext cx="6666480" cy="5453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8" name="TextBox 137"/>
          <p:cNvSpPr/>
          <p:nvPr/>
        </p:nvSpPr>
        <p:spPr>
          <a:xfrm>
            <a:off x="731520" y="1554480"/>
            <a:ext cx="1060668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1. SLM-first architecture: lighter, lower-cost, and suitable for future offline or edge deployment in low-connectivity rural settings.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2. Source-grounded intelligence: combines official reports, live weather, mandi prices, crop guides, and structured advisory instead of relying on generic text generation.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3. Safe feedback learning loop: farmer corrections are stored, mapped to facts, validated against sources/vector evidence, and only then reused to improve recommendations.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4. Context-aware advisory: remembers crop, season, district, and prior questions for more relevant follow-up support.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5. Commercial insight layer: feedback and field demand can be analyzed for fertilizer, chemical, insurance, and agri-market stakeholders.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01F5C0-26D3-4E9A-9D05-96F62614F5B5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00" name="Google Shape;127;g2b5da1ecdad_1_20" descr="Image"/>
          <p:cNvPicPr/>
          <p:nvPr/>
        </p:nvPicPr>
        <p:blipFill>
          <a:blip r:embed="rId1"/>
          <a:stretch/>
        </p:blipFill>
        <p:spPr>
          <a:xfrm>
            <a:off x="274680" y="118800"/>
            <a:ext cx="11642040" cy="6840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128;g2b5da1ecdad_1_20" descr="Image"/>
          <p:cNvPicPr/>
          <p:nvPr/>
        </p:nvPicPr>
        <p:blipFill>
          <a:blip r:embed="rId2"/>
          <a:stretch/>
        </p:blipFill>
        <p:spPr>
          <a:xfrm>
            <a:off x="274680" y="6635880"/>
            <a:ext cx="11642040" cy="68400"/>
          </a:xfrm>
          <a:prstGeom prst="rect">
            <a:avLst/>
          </a:prstGeom>
          <a:ln w="0">
            <a:noFill/>
          </a:ln>
        </p:spPr>
      </p:pic>
      <p:sp>
        <p:nvSpPr>
          <p:cNvPr id="102" name="Google Shape;129;g2b5da1ecdad_1_20"/>
          <p:cNvSpPr/>
          <p:nvPr/>
        </p:nvSpPr>
        <p:spPr>
          <a:xfrm>
            <a:off x="485280" y="585360"/>
            <a:ext cx="1050624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National and International Competitors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3" name="Google Shape;130;g2b5da1ecdad_1_20" descr=""/>
          <p:cNvPicPr/>
          <p:nvPr/>
        </p:nvPicPr>
        <p:blipFill>
          <a:blip r:embed="rId3"/>
          <a:stretch/>
        </p:blipFill>
        <p:spPr>
          <a:xfrm>
            <a:off x="11087280" y="187920"/>
            <a:ext cx="1104480" cy="1104480"/>
          </a:xfrm>
          <a:prstGeom prst="rect">
            <a:avLst/>
          </a:prstGeom>
          <a:ln w="0">
            <a:noFill/>
          </a:ln>
        </p:spPr>
      </p:pic>
      <p:sp>
        <p:nvSpPr>
          <p:cNvPr id="104" name="TextBox 130"/>
          <p:cNvSpPr/>
          <p:nvPr/>
        </p:nvSpPr>
        <p:spPr>
          <a:xfrm>
            <a:off x="1097280" y="1645920"/>
            <a:ext cx="9875160" cy="25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National competitors: advisory apps, weather-only apps, mandi-price dashboards, and crop diagnosis tools that usually solve one problem at a time.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International competitors: generic AI assistants and broad farm-tech platforms that are not deeply localized for Indian languages, districts, crops, and official policy sources.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KisaanAI differentiation: combines localized data fusion, SLM efficiency, source validation, and RLHF-style feedback improvement in one stack.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Result: better trust, lower deployment cost, stronger rural usability, and future offline potential.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760"/>
            <a:ext cx="1051524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Commercial Potential and Market Demand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a5a5a5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Target beneficiaries: farmers, FPOs, agri-input companies, insurers, lenders, procurement players, NGOs, and government extension programs.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Revenue channels: B2B dashboard subscriptions, white-labeled advisory deployments, analytics for fertilizer/chemical manufacturers, pilot contracts with FPOs/NGOs, premium API/data services, and transaction-linked market intelligence partnerships.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Different applications: crop planning, weather risk alerts, cost-of-cultivation support, pesticide guidance, market timing, field feedback analytics, and product-demand mapping.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Commercial potential: India offers an agritech opportunity estimated around US$24 billion, smart agriculture is projected to grow strongly through 2033, and adjacent agrochemical demand remains large.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Duration to reach TRL 9: ~12-18 months with structured pilots, product hardening, mobile packaging, and partner-led scale-up.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7" name="Google Shape;137;p4" descr=""/>
          <p:cNvPicPr/>
          <p:nvPr/>
        </p:nvPicPr>
        <p:blipFill>
          <a:blip r:embed="rId1"/>
          <a:stretch/>
        </p:blipFill>
        <p:spPr>
          <a:xfrm>
            <a:off x="11087280" y="0"/>
            <a:ext cx="1104480" cy="11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Milestone with timelines </a:t>
            </a:r>
            <a:endParaRPr b="0" lang="en-IN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239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0-3 months: strengthen beta, improve source validation, expand multilingual flows, and onboard pilot farmers/FPOs.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3-6 months: launch monitored field pilots, refine RLHF-style feedback pipeline, and build partner analytics dashboards.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6-9 months: integrate B2B reporting for agri-input stakeholders, improve personalization, and package mobile/offline-ready SLM workflows.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9-12 months: convert pilots into paid deployments, expand districts/crops, and establish repeatable commercialization partnerships.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12-18 months: move toward TRL 9 through scaled adoption, reliability hardening, and domain-partner rollouts.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0" name="Google Shape;153;p6" descr=""/>
          <p:cNvPicPr/>
          <p:nvPr/>
        </p:nvPicPr>
        <p:blipFill>
          <a:blip r:embed="rId1"/>
          <a:stretch/>
        </p:blipFill>
        <p:spPr>
          <a:xfrm>
            <a:off x="11087280" y="63360"/>
            <a:ext cx="1104480" cy="11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2" name="Rectangle 1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-639360" y="639720"/>
            <a:ext cx="6857640" cy="557892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IN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Current strategy is partnership-led scale rather than early dilution.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Target collaborators: FPOs, KVKs, NGOs, agri-input distributors, fertilizer and crop-protection companies, insurers, and district-level market ecosystem partners.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Near-term investment approach: grant-backed pilot validation followed by revenue-backed enterprise partnerships and selective strategic capital.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Commercial logic: use farmer-side adoption to build a high-quality agricultural feedback graph, then monetize trusted advisory + analytics + workflow integrations.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-393120" y="395640"/>
            <a:ext cx="6345720" cy="55756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4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1528560" y="2819160"/>
            <a:ext cx="2501640" cy="5575680"/>
          </a:xfrm>
          <a:prstGeom prst="rect">
            <a:avLst/>
          </a:prstGeom>
          <a:gradFill rotWithShape="0">
            <a:gsLst>
              <a:gs pos="2000">
                <a:srgbClr val="4472c4">
                  <a:alpha val="29000"/>
                </a:srgbClr>
              </a:gs>
              <a:gs pos="100000">
                <a:srgbClr val="000000">
                  <a:alpha val="3000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5" name="Rectangle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5400000">
            <a:off x="-425880" y="853200"/>
            <a:ext cx="6857640" cy="515196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1100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6" name="Oval 1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6097800">
            <a:off x="819360" y="1128240"/>
            <a:ext cx="4317840" cy="4317840"/>
          </a:xfrm>
          <a:prstGeom prst="ellipse">
            <a:avLst/>
          </a:prstGeom>
          <a:gradFill rotWithShape="0">
            <a:gsLst>
              <a:gs pos="39000">
                <a:srgbClr val="4472c4">
                  <a:alpha val="0"/>
                </a:srgbClr>
              </a:gs>
              <a:gs pos="100000">
                <a:srgbClr val="8faadc">
                  <a:alpha val="15000"/>
                </a:srgbClr>
              </a:gs>
            </a:gsLst>
            <a:lin ang="1896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chemeClr val="lt1"/>
              </a:solidFill>
              <a:uFillTx/>
              <a:latin typeface="Arial"/>
              <a:ea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26560" y="586800"/>
            <a:ext cx="4229640" cy="338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4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Details of Collaborating Partner and Investment Strategy</a:t>
            </a:r>
            <a:endParaRPr b="0" lang="en-IN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503040" y="649440"/>
            <a:ext cx="4862160" cy="554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57200" indent="-34308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  <a:ea typeface="Calibri"/>
              </a:rPr>
              <a:t>No external private investment, venture capital, or corporate funding has been raised for this project till now. The development has largely progressed through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Arial"/>
                <a:ea typeface="Calibri"/>
              </a:rPr>
              <a:t>grant support and internal efforts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Arial"/>
                <a:ea typeface="Calibri"/>
              </a:rPr>
              <a:t>, with a focus on building a strong technical foundation before moving toward large-scale funding.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9" name="Google Shape;114;g36f0d695c8d_0_0" descr=""/>
          <p:cNvPicPr/>
          <p:nvPr/>
        </p:nvPicPr>
        <p:blipFill>
          <a:blip r:embed="rId1"/>
          <a:stretch/>
        </p:blipFill>
        <p:spPr>
          <a:xfrm>
            <a:off x="11202840" y="75600"/>
            <a:ext cx="888480" cy="88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151920"/>
            <a:ext cx="10515240" cy="96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Team Details 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82760" y="1398240"/>
            <a:ext cx="10515240" cy="509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Founder-led AgriTech initiative focused on building a practical, local-language agricultural intelligence system for Indian farmers.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Core strengths demonstrated in the prototype: AI workflow design, data integration, live market and weather pipelines, source-grounded advisory, feedback capture, and deployment engineering.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Immediate team-building focus: agronomy experts, field pilot coordinators, and commercialization mentors for GTM, partnerships, and validation at scale.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" name="Google Shape;107;g31831269629_1_1" descr=""/>
          <p:cNvPicPr/>
          <p:nvPr/>
        </p:nvPicPr>
        <p:blipFill>
          <a:blip r:embed="rId1"/>
          <a:stretch/>
        </p:blipFill>
        <p:spPr>
          <a:xfrm>
            <a:off x="11202840" y="75600"/>
            <a:ext cx="888480" cy="88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Investment Details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50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Equipment: Rs 5 lakh - edge devices, testing phones, field-demo hardware, and development systems.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Travel: Rs 2 lakh - pilot visits, farmer interviews, partner meetings, and on-ground validation.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Manpower: Rs 12 lakh - engineering, agronomy validation support, data operations, and pilot coordination.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Consumables / cloud / data operations: Rs 4 lakh - hosting, APIs, data processing, and deployment support.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Contingency: Rs 2 lakh - unexpected field, compliance, and integration needs.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Total proposed support: Rs 25 lakh.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5" name="Google Shape;160;p7" descr=""/>
          <p:cNvPicPr/>
          <p:nvPr/>
        </p:nvPicPr>
        <p:blipFill>
          <a:blip r:embed="rId1"/>
          <a:stretch/>
        </p:blipFill>
        <p:spPr>
          <a:xfrm>
            <a:off x="11087280" y="0"/>
            <a:ext cx="1104480" cy="11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6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Expectation from IHFC</a:t>
            </a:r>
            <a:endParaRPr b="0" lang="en-IN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a5a5a5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Commercialization support: pilot introductions, strategic mentorship, and product-market fit validation with agriculture ecosystem partners.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Funds requirement: Rs 25 lakh for product hardening, beta pilots, source-validation workflows, and analytics packaging.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Mentorship required: agribusiness GTM, channel partnerships, regulatory positioning, and enterprise sales strategy.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Space and ecosystem required: access to innovation network, agri pilot partners, farmer communities, and industry connects.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Commercialisation role: KisaanAI team will execute product development, deployment, field learning, and partner delivery; IHFC can accelerate validation and go-to-market readiness.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8" name="Google Shape;167;p8" descr=""/>
          <p:cNvPicPr/>
          <p:nvPr/>
        </p:nvPicPr>
        <p:blipFill>
          <a:blip r:embed="rId1"/>
          <a:stretch/>
        </p:blipFill>
        <p:spPr>
          <a:xfrm>
            <a:off x="11017440" y="138240"/>
            <a:ext cx="1104480" cy="11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1519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2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Legal framework required for achieving the commercialization of your patent/technology/prototype, if any, Details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5512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a5a5a5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IP strategy: protect the source-grounded advisory workflow, feedback-learning pipeline, and domain-specific intelligence architecture where applicable.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Regulatory and safety compliance: maintain clear advisory disclaimers, align pesticide recommendations with label guidance and official source material, and preserve auditable answer provenance.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Data governance: explicit user consent, secure handling of farmer feedback, role-based partner access, and clear rules for reuse of anonymized field data.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MoU / agreements: to be developed with pilot partners, enterprise customers, and data-sharing collaborators during commercialization.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Investor / licensing framework: future agreements to define IP ownership, revenue share, and sector-specific deployment rights.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222840"/>
            <a:ext cx="10515240" cy="104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Publications from this technology/prototype/patent, if any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5004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No formal publications yet.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Current focus is prototype deployment, field validation, source-grounded improvement, and commercialization readiness.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0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The next outputs can include pilot learnings, domain validation notes, and product-performance case studies.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3" name="Google Shape;180;p10" descr=""/>
          <p:cNvPicPr/>
          <p:nvPr/>
        </p:nvPicPr>
        <p:blipFill>
          <a:blip r:embed="rId1"/>
          <a:stretch/>
        </p:blipFill>
        <p:spPr>
          <a:xfrm>
            <a:off x="11087280" y="0"/>
            <a:ext cx="1104480" cy="11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555790-612C-4295-9CE8-B0A66573FBA4}" type="slidenum">
              <a:rPr b="0" lang="en-IN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35" name="Google Shape;186;p11" descr="Image"/>
          <p:cNvPicPr/>
          <p:nvPr/>
        </p:nvPicPr>
        <p:blipFill>
          <a:blip r:embed="rId1"/>
          <a:stretch/>
        </p:blipFill>
        <p:spPr>
          <a:xfrm>
            <a:off x="274680" y="146880"/>
            <a:ext cx="11642040" cy="68400"/>
          </a:xfrm>
          <a:prstGeom prst="rect">
            <a:avLst/>
          </a:prstGeom>
          <a:ln w="0">
            <a:noFill/>
          </a:ln>
        </p:spPr>
      </p:pic>
      <p:pic>
        <p:nvPicPr>
          <p:cNvPr id="136" name="Google Shape;187;p11" descr="Image"/>
          <p:cNvPicPr/>
          <p:nvPr/>
        </p:nvPicPr>
        <p:blipFill>
          <a:blip r:embed="rId2"/>
          <a:stretch/>
        </p:blipFill>
        <p:spPr>
          <a:xfrm>
            <a:off x="274680" y="6635880"/>
            <a:ext cx="11642040" cy="6840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188;p11" descr="iit delhi logo.png"/>
          <p:cNvPicPr/>
          <p:nvPr/>
        </p:nvPicPr>
        <p:blipFill>
          <a:blip r:embed="rId3"/>
          <a:stretch/>
        </p:blipFill>
        <p:spPr>
          <a:xfrm>
            <a:off x="11044080" y="242280"/>
            <a:ext cx="1062720" cy="106272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189;p11"/>
          <p:cNvSpPr/>
          <p:nvPr/>
        </p:nvSpPr>
        <p:spPr>
          <a:xfrm>
            <a:off x="119520" y="519840"/>
            <a:ext cx="1050624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Required Information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39" name="Google Shape;190;p11"/>
          <p:cNvGraphicFramePr/>
          <p:nvPr/>
        </p:nvGraphicFramePr>
        <p:xfrm>
          <a:off x="659520" y="1799280"/>
          <a:ext cx="10863360" cy="4062600"/>
        </p:xfrm>
        <a:graphic>
          <a:graphicData uri="http://schemas.openxmlformats.org/drawingml/2006/table">
            <a:tbl>
              <a:tblPr/>
              <a:tblGrid>
                <a:gridCol w="623880"/>
                <a:gridCol w="3735720"/>
                <a:gridCol w="6503760"/>
              </a:tblGrid>
              <a:tr h="34632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S.No.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8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Questions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Answers</a:t>
                      </a:r>
                      <a:endParaRPr b="0" lang="en-IN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29304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No. of Inventors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1 (Founder-led prototype)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29304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Total Market Size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India agritech opportunity ~US$24B; smart agriculture projected to ~US$3.8B by 2033; agrochemical market ~Rs 69,000 Cr FY24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3696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Novelty in this Idea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SLM-first, source-grounded, feedback-learning agricultural assistant with future offline potential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28620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Funding till now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Bootstrapped / internal effort; no major private investment yet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0096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Patent Filed(Date and Number)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Not filed yet; filing planned after beta validation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27144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6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Patent Granted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No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0780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Category: General/SC/ST/OBC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To be filled by applicant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5172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Expectation from IHFC(in lacs)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25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5396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9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Mentor; Name, Designation, Affiliation, email ID and Phone Number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To be finalized with domain / commercialization mentor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45396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Contribution of Mentor in Product(Individual Contribution)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Product validation, GTM strategy, field-pilot access, and commercialization guidance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  <a:tr h="366120"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11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200" strike="noStrike" u="none">
                          <a:solidFill>
                            <a:schemeClr val="dk1"/>
                          </a:solidFill>
                          <a:uFillTx/>
                          <a:latin typeface="Calibri"/>
                          <a:ea typeface="Calibri"/>
                        </a:rPr>
                        <a:t>Video Attached(Yes/No)</a:t>
                      </a:r>
                      <a:endParaRPr b="0" lang="en-IN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 lIns="4320" rIns="4320" tIns="432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11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No (can be shared on request)</a:t>
                      </a:r>
                      <a:endParaRPr b="0" lang="en-IN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4320" marR="43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LibreOffice/24.8.3.2$MacOSX_AARCH64 LibreOffice_project/48a6bac9e7e268aeb4c3483fcf825c94556d9f92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2022-02-25T06:39:00Z</dcterms:created>
  <dc:creator>sushalekshmi su</dc:creator>
  <dc:description/>
  <dc:language>en-IN</dc:language>
  <cp:lastModifiedBy/>
  <dcterms:modified xsi:type="dcterms:W3CDTF">2026-05-13T20:52:17Z</dcterms:modified>
  <cp:revision>3</cp:revision>
  <dc:subject/>
  <dc:title>Presentation on IHFC Call for Patent/Technology/Prototype Commercialization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919A17CA20B14F3983A51D305934EF2E</vt:lpwstr>
  </property>
  <property fmtid="{D5CDD505-2E9C-101B-9397-08002B2CF9AE}" pid="3" name="KSOProductBuildVer">
    <vt:lpwstr>1033-11.2.0.11306</vt:lpwstr>
  </property>
  <property fmtid="{D5CDD505-2E9C-101B-9397-08002B2CF9AE}" pid="4" name="Notes">
    <vt:i4>13</vt:i4>
  </property>
  <property fmtid="{D5CDD505-2E9C-101B-9397-08002B2CF9AE}" pid="5" name="PresentationFormat">
    <vt:lpwstr>Widescreen</vt:lpwstr>
  </property>
  <property fmtid="{D5CDD505-2E9C-101B-9397-08002B2CF9AE}" pid="6" name="Slides">
    <vt:i4>14</vt:i4>
  </property>
</Properties>
</file>